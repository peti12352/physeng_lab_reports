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63" r:id="rId4"/>
    <p:sldId id="259" r:id="rId5"/>
    <p:sldId id="269" r:id="rId6"/>
    <p:sldId id="262" r:id="rId7"/>
    <p:sldId id="270" r:id="rId8"/>
    <p:sldId id="267" r:id="rId9"/>
    <p:sldId id="266" r:id="rId10"/>
    <p:sldId id="265" r:id="rId11"/>
    <p:sldId id="268" r:id="rId12"/>
    <p:sldId id="271" r:id="rId13"/>
    <p:sldId id="264" r:id="rId14"/>
    <p:sldId id="25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118" y="63"/>
      </p:cViewPr>
      <p:guideLst/>
    </p:cSldViewPr>
  </p:slideViewPr>
  <p:notesTextViewPr>
    <p:cViewPr>
      <p:scale>
        <a:sx n="1" d="1"/>
        <a:sy n="1" d="1"/>
      </p:scale>
      <p:origin x="0" y="-23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9B17F-4EE0-4B07-BF8C-F7D96C6DF73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259B5-E39A-4D98-AFF2-5A6C2B2D4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556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04133-848A-2461-5158-A418599C5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44AD64-21E2-7E3C-AD6B-7CA462D0AD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29877-156B-D023-1B79-F91F52BA7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C4865-9175-4479-980E-3144D12467B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A3AA6-32D7-DF7E-E5F3-11307A73E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00150-A86E-9726-4D71-F577BD7A0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427C-4E15-4861-8456-FD3008B43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29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7B16E-8085-64F3-D852-E37D192F1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81A4C-51AE-DEB6-1412-EA5990D7C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CD8D4-BC26-1DC0-F10B-B2E79F8F1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C4865-9175-4479-980E-3144D12467B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E4767-714C-8610-14C7-BF233719F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B1379-6331-3357-2523-F0CBF4CBA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427C-4E15-4861-8456-FD3008B43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587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672BA-6662-A996-40AE-F62817A4C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8C4E1-CAC2-B2F7-5C80-BDE7BC301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C711D-0FA7-8236-01C8-05BD5E0B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C4865-9175-4479-980E-3144D12467B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585EA-CB9C-CCC6-A2A6-F137F554E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65551-BF8C-245D-F7F4-A37FE6A12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427C-4E15-4861-8456-FD3008B43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443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96B1F-32B8-7FA5-3C79-D2C8D5DE7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EC895-D27F-50A7-0C05-7AD25B1CA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7E7080-D69C-4C5E-5F25-D51080945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7409F-745F-7675-6B99-E949A2207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C4865-9175-4479-980E-3144D12467B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046BF-A468-B1AE-6743-7A87069A4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0880B-FA56-9E8B-C5B5-5630573BF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427C-4E15-4861-8456-FD3008B43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464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44C6E-439F-E753-1418-84F92D514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1248D-536D-A15B-A552-1BB46AFD7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8BCBDF-9824-7EAB-A071-6F0294517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7D393-C608-5AFB-7293-2F1B6C75D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8AB3FA-A3A4-5DC8-6AA3-31915E70B5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1A93FB-CDB5-F892-C84F-197144D4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C4865-9175-4479-980E-3144D12467B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6649EE-32F3-3490-3C32-39AA927AF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79FD4A-6EE2-428F-F08E-50DA9B1C1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427C-4E15-4861-8456-FD3008B43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78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1AF96-1A37-77DB-5B15-D47AF9209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14952-E30A-A9A3-BBD6-22AB20B2E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C4865-9175-4479-980E-3144D12467B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E4186-7693-C1A5-A976-CA6C44DBB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07E13-C005-07D2-E06B-4DF0C9F67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427C-4E15-4861-8456-FD3008B43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56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6E4BBC-57D4-32DD-131A-6D66BA894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C4865-9175-4479-980E-3144D12467B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476C70-ADE8-169C-2F44-8CA2407F7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F4897-328F-3EB3-47FC-63368930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427C-4E15-4861-8456-FD3008B43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91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6C76-58A5-0D31-5863-E278C40EE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86F2C-5D3C-BC03-0F06-30ED7D30F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0E897-7189-0351-0EB7-B8FFAAC91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66C98-6A8F-3254-9B44-5F44C040F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C4865-9175-4479-980E-3144D12467B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5D4FB-5923-26FD-C9F9-A672F8083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D49FE-D768-783D-16C1-0F8FF3031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427C-4E15-4861-8456-FD3008B43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99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16EDE-9B3C-BE9D-4F8C-5FA69DC24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306BD-7169-0932-3A37-B27826E6F9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60557-0699-C95A-9861-E0015D199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466D3-2617-F91B-386A-9C65096D9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C4865-9175-4479-980E-3144D12467B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3B155C-81D4-C29D-2D31-A70B5F00B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D6256C-B427-CDD1-30C1-011DC82E2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427C-4E15-4861-8456-FD3008B43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3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B9E42-FE73-A191-700C-4AEDBA89D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E19703-1399-5829-D7EB-D5A4F4E54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26410-BE31-B55B-0964-533531BE6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C4865-9175-4479-980E-3144D12467B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ECC34-9D8F-827E-8118-AF1803270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539B7-662A-BF03-FABD-703BB1E7D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427C-4E15-4861-8456-FD3008B43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95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CEF52C-B80D-DD92-89B7-54F06E8666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A54AB8-F900-61B9-F566-46B150D8B9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74A70-972E-4D0E-7E08-9B8FC54F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C4865-9175-4479-980E-3144D12467B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5CFD2-0BF2-9B5E-E715-2C233BF37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74E01-72CC-A29A-16F6-42D03B0C2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427C-4E15-4861-8456-FD3008B43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1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89C56B-ACB7-0EA9-BF58-EFC2C92CE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22FFC-3608-176E-4B8B-555AE68CF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31973-6BC2-5B8C-32EF-95AF10F2EB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AC4865-9175-4479-980E-3144D12467B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930A2-DDAD-7F85-E7EA-02EB93323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FDE48-A292-C970-6814-A8F23E113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2E427C-4E15-4861-8456-FD3008B43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267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37980-1047-A4ED-C879-167853E517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Scanning Tunneling Microscopy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920092-C1A3-3B89-6278-1BCD51337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/>
          </a:bodyPr>
          <a:lstStyle/>
          <a:p>
            <a:r>
              <a:rPr lang="en-US" dirty="0"/>
              <a:t>Gregorio Jaca</a:t>
            </a:r>
          </a:p>
          <a:p>
            <a:r>
              <a:rPr lang="en-US" dirty="0"/>
              <a:t>October 9, 2025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BC1E28-CD58-185C-057A-41AA3DC58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766" y="5032512"/>
            <a:ext cx="7058468" cy="140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174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5AD2F-5C7B-75B2-60DB-4FA962A10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56765B-70F4-9C2D-B7F1-825033B6D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"/>
            <a:ext cx="12310631" cy="64008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F1902-C610-F369-85D0-A3434ACFD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4617" y="457200"/>
            <a:ext cx="4487408" cy="3811588"/>
          </a:xfrm>
        </p:spPr>
        <p:txBody>
          <a:bodyPr>
            <a:normAutofit/>
          </a:bodyPr>
          <a:lstStyle/>
          <a:p>
            <a:r>
              <a:rPr lang="en-US" sz="1800" dirty="0"/>
              <a:t>“I couldn’t stop looking at the images, it was entering a new world” Gerd Binnig</a:t>
            </a:r>
          </a:p>
        </p:txBody>
      </p:sp>
    </p:spTree>
    <p:extLst>
      <p:ext uri="{BB962C8B-B14F-4D97-AF65-F5344CB8AC3E}">
        <p14:creationId xmlns:p14="http://schemas.microsoft.com/office/powerpoint/2010/main" val="3726767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C2827-4369-34C8-FCC6-08F2DFF718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2263"/>
            <a:ext cx="9144000" cy="1098323"/>
          </a:xfrm>
        </p:spPr>
        <p:txBody>
          <a:bodyPr/>
          <a:lstStyle/>
          <a:p>
            <a:r>
              <a:rPr lang="es-419" dirty="0"/>
              <a:t>Table </a:t>
            </a:r>
            <a:r>
              <a:rPr lang="es-419" dirty="0" err="1"/>
              <a:t>of</a:t>
            </a:r>
            <a:r>
              <a:rPr lang="es-419" dirty="0"/>
              <a:t> </a:t>
            </a:r>
            <a:r>
              <a:rPr lang="es-419" dirty="0" err="1"/>
              <a:t>Contents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C67469-4D60-EA0B-0357-466810F1F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01018"/>
            <a:ext cx="9144000" cy="4322195"/>
          </a:xfrm>
        </p:spPr>
        <p:txBody>
          <a:bodyPr>
            <a:normAutofit/>
          </a:bodyPr>
          <a:lstStyle/>
          <a:p>
            <a:pPr algn="l"/>
            <a:r>
              <a:rPr lang="es-419" sz="2800" dirty="0"/>
              <a:t>- </a:t>
            </a:r>
            <a:r>
              <a:rPr lang="es-419" sz="2800" dirty="0" err="1"/>
              <a:t>Introduction</a:t>
            </a:r>
            <a:r>
              <a:rPr lang="es-419" sz="2800" dirty="0"/>
              <a:t> and </a:t>
            </a:r>
            <a:r>
              <a:rPr lang="es-419" sz="2800" dirty="0" err="1"/>
              <a:t>Motivation</a:t>
            </a:r>
            <a:endParaRPr lang="es-419" sz="2800" dirty="0"/>
          </a:p>
          <a:p>
            <a:pPr marL="342900" indent="-342900" algn="l">
              <a:buFontTx/>
              <a:buChar char="-"/>
            </a:pPr>
            <a:r>
              <a:rPr lang="es-419" sz="2800" dirty="0" err="1"/>
              <a:t>Theoretical</a:t>
            </a:r>
            <a:r>
              <a:rPr lang="es-419" sz="2800" dirty="0"/>
              <a:t> </a:t>
            </a:r>
            <a:r>
              <a:rPr lang="es-419" sz="2800" dirty="0" err="1"/>
              <a:t>Minimum</a:t>
            </a:r>
            <a:endParaRPr lang="es-419" sz="2800" dirty="0"/>
          </a:p>
          <a:p>
            <a:pPr marL="800100" lvl="1" indent="-342900" algn="l">
              <a:buFontTx/>
              <a:buChar char="-"/>
            </a:pPr>
            <a:r>
              <a:rPr lang="es-419" sz="2400" dirty="0" err="1"/>
              <a:t>Principle</a:t>
            </a:r>
            <a:r>
              <a:rPr lang="es-419" sz="2400" dirty="0"/>
              <a:t> </a:t>
            </a:r>
            <a:r>
              <a:rPr lang="es-419" sz="2400" dirty="0" err="1"/>
              <a:t>of</a:t>
            </a:r>
            <a:r>
              <a:rPr lang="es-419" sz="2400" dirty="0"/>
              <a:t> </a:t>
            </a:r>
            <a:r>
              <a:rPr lang="es-419" sz="2400" dirty="0" err="1"/>
              <a:t>operation</a:t>
            </a:r>
            <a:endParaRPr lang="es-419" sz="2400" dirty="0"/>
          </a:p>
          <a:p>
            <a:pPr marL="800100" lvl="1" indent="-342900" algn="l">
              <a:buFontTx/>
              <a:buChar char="-"/>
            </a:pPr>
            <a:r>
              <a:rPr lang="es-419" sz="2400" dirty="0" err="1"/>
              <a:t>Measurement</a:t>
            </a:r>
            <a:endParaRPr lang="es-419" sz="2400" dirty="0"/>
          </a:p>
          <a:p>
            <a:pPr marL="342900" indent="-342900" algn="l">
              <a:buFontTx/>
              <a:buChar char="-"/>
            </a:pPr>
            <a:r>
              <a:rPr lang="en-US" sz="2800" dirty="0"/>
              <a:t>Study of Highly Oriented Pyrolytic Graphite (HOPG)</a:t>
            </a:r>
          </a:p>
          <a:p>
            <a:pPr marL="800100" lvl="1" indent="-342900" algn="l">
              <a:buFontTx/>
              <a:buChar char="-"/>
            </a:pPr>
            <a:r>
              <a:rPr lang="en-US" sz="2400" dirty="0"/>
              <a:t>Atomic Steps</a:t>
            </a:r>
          </a:p>
          <a:p>
            <a:pPr marL="800100" lvl="1" indent="-342900" algn="l">
              <a:buFontTx/>
              <a:buChar char="-"/>
            </a:pPr>
            <a:r>
              <a:rPr lang="en-US" sz="2400" dirty="0"/>
              <a:t>Atomic Resolution</a:t>
            </a:r>
          </a:p>
          <a:p>
            <a:pPr marL="800100" lvl="1" indent="-342900" algn="l">
              <a:buFontTx/>
              <a:buChar char="-"/>
            </a:pPr>
            <a:r>
              <a:rPr lang="en-US" sz="2400" dirty="0"/>
              <a:t>Moiré effect</a:t>
            </a:r>
          </a:p>
          <a:p>
            <a:pPr marL="342900" indent="-342900" algn="l">
              <a:buFontTx/>
              <a:buChar char="-"/>
            </a:pPr>
            <a:r>
              <a:rPr lang="en-US" sz="2800" dirty="0"/>
              <a:t>Conclusions and Discussion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FB7B1-8B49-8229-04C7-5056FE008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E427C-4E15-4861-8456-FD3008B43AC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65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902D4-0DA8-28A4-C20E-EC8D7D6F6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STM </a:t>
            </a:r>
            <a:r>
              <a:rPr lang="es-419" dirty="0" err="1"/>
              <a:t>imaging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0D5249-8C32-F9A7-A59D-202EE634D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0985"/>
            <a:ext cx="6387097" cy="3964718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36CF8CBE-49D7-6AA6-AA5F-9EBA832373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979E2FB-8916-F37D-4C85-45B99EFF4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097" y="1640984"/>
            <a:ext cx="5645239" cy="4264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2DAAB6-2D4E-CAD9-70D4-D25057AF65FB}"/>
              </a:ext>
            </a:extLst>
          </p:cNvPr>
          <p:cNvSpPr txBox="1"/>
          <p:nvPr/>
        </p:nvSpPr>
        <p:spPr>
          <a:xfrm>
            <a:off x="6993466" y="5858933"/>
            <a:ext cx="48447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Scanning electron micrograph of the tardigrade </a:t>
            </a:r>
            <a:r>
              <a:rPr lang="en-US" dirty="0" err="1"/>
              <a:t>Macrobiotus</a:t>
            </a:r>
            <a:r>
              <a:rPr lang="en-US" dirty="0"/>
              <a:t> </a:t>
            </a:r>
            <a:r>
              <a:rPr lang="en-US" dirty="0" err="1"/>
              <a:t>furciger</a:t>
            </a:r>
            <a:r>
              <a:rPr lang="en-US" dirty="0"/>
              <a:t> with inset showing details of claw structure (Photography by S. McInnes)  </a:t>
            </a:r>
          </a:p>
          <a:p>
            <a:br>
              <a:rPr lang="en-US" dirty="0">
                <a:effectLst/>
              </a:rPr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1A128F-D4C0-A5D5-C1C5-0E4701085179}"/>
              </a:ext>
            </a:extLst>
          </p:cNvPr>
          <p:cNvSpPr txBox="1"/>
          <p:nvPr/>
        </p:nvSpPr>
        <p:spPr>
          <a:xfrm>
            <a:off x="238880" y="5804722"/>
            <a:ext cx="4844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IBM </a:t>
            </a:r>
            <a:r>
              <a:rPr lang="es-419" dirty="0" err="1"/>
              <a:t>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780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C17F6-7990-DD2B-3441-C5D63CA3B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err="1"/>
              <a:t>Tunneling</a:t>
            </a:r>
            <a:endParaRPr lang="en-US" dirty="0"/>
          </a:p>
        </p:txBody>
      </p:sp>
      <p:pic>
        <p:nvPicPr>
          <p:cNvPr id="1026" name="Picture 2" descr="Quantum tunnelling effect. Illustrated is the exponential damping of a... |  Download Scientific Diagram">
            <a:extLst>
              <a:ext uri="{FF2B5EF4-FFF2-40B4-BE49-F238E27FC236}">
                <a16:creationId xmlns:a16="http://schemas.microsoft.com/office/drawing/2014/main" id="{BB384150-B312-DD02-45CE-C62185FC6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87" y="1407886"/>
            <a:ext cx="6908542" cy="4807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121A03-0471-C3C4-6E19-2A973829A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077" y="1611459"/>
            <a:ext cx="3718405" cy="14914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333F1C-7D16-2770-778C-2D2ECBFA377A}"/>
              </a:ext>
            </a:extLst>
          </p:cNvPr>
          <p:cNvSpPr txBox="1"/>
          <p:nvPr/>
        </p:nvSpPr>
        <p:spPr>
          <a:xfrm>
            <a:off x="8317" y="6215858"/>
            <a:ext cx="729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Trixler</a:t>
            </a:r>
            <a:r>
              <a:rPr lang="en-US" dirty="0"/>
              <a:t>, Frank. (2013). Quantum Tunnelling to the Origin and Evolution of Life. Current organic chemistry. 17.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B63C68-F860-FDF3-723E-ED3F66F96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2077" y="2855491"/>
            <a:ext cx="2387957" cy="10977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2838E3-2B4C-0DCA-BA39-4C2132962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8151" y="3324918"/>
            <a:ext cx="832331" cy="37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79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C7FD23-F598-B9A5-3B9F-9AC6DF521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0487" y="1045027"/>
            <a:ext cx="4886324" cy="2351313"/>
          </a:xfrm>
        </p:spPr>
        <p:txBody>
          <a:bodyPr>
            <a:normAutofit/>
          </a:bodyPr>
          <a:lstStyle/>
          <a:p>
            <a:r>
              <a:rPr lang="en-US" sz="2400" dirty="0"/>
              <a:t>Electrodes A and B are far apart.</a:t>
            </a:r>
          </a:p>
          <a:p>
            <a:r>
              <a:rPr lang="en-US" sz="2400"/>
              <a:t>Fermi level: A &gt; B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728258-6B46-BF4F-FC9C-925E57E36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5195336" cy="67437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8CA829C-E059-AE05-2560-214C497ADF3D}"/>
              </a:ext>
            </a:extLst>
          </p:cNvPr>
          <p:cNvSpPr txBox="1">
            <a:spLocks/>
          </p:cNvSpPr>
          <p:nvPr/>
        </p:nvSpPr>
        <p:spPr>
          <a:xfrm>
            <a:off x="620486" y="2759528"/>
            <a:ext cx="4886323" cy="17471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The electrodes are brought into sub-nm proximity, </a:t>
            </a:r>
          </a:p>
          <a:p>
            <a:r>
              <a:rPr lang="en-US" sz="2400" dirty="0"/>
              <a:t>The Fermi levels are equalized</a:t>
            </a:r>
          </a:p>
          <a:p>
            <a:r>
              <a:rPr lang="en-US" sz="2400" dirty="0"/>
              <a:t>A contact potential is formed. 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95158DE-9A92-F7C8-6689-6FD35339C7BD}"/>
              </a:ext>
            </a:extLst>
          </p:cNvPr>
          <p:cNvSpPr txBox="1">
            <a:spLocks/>
          </p:cNvSpPr>
          <p:nvPr/>
        </p:nvSpPr>
        <p:spPr>
          <a:xfrm>
            <a:off x="620486" y="4914900"/>
            <a:ext cx="4886323" cy="2351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A bias Ut is applied. </a:t>
            </a:r>
          </a:p>
          <a:p>
            <a:r>
              <a:rPr lang="en-US" sz="2400" dirty="0"/>
              <a:t>The tunneling current flows</a:t>
            </a:r>
          </a:p>
          <a:p>
            <a:r>
              <a:rPr lang="en-US" sz="2400" dirty="0"/>
              <a:t>(filled states A) -&gt; (empty states B) </a:t>
            </a:r>
          </a:p>
        </p:txBody>
      </p:sp>
    </p:spTree>
    <p:extLst>
      <p:ext uri="{BB962C8B-B14F-4D97-AF65-F5344CB8AC3E}">
        <p14:creationId xmlns:p14="http://schemas.microsoft.com/office/powerpoint/2010/main" val="1325414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CB734-751F-DEAE-4DCF-8E64E5F69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of Highly Oriented Pyrolytic Graphite (HOPG)</a:t>
            </a:r>
          </a:p>
        </p:txBody>
      </p:sp>
      <p:pic>
        <p:nvPicPr>
          <p:cNvPr id="2050" name="Picture 2" descr="5. The atomic structures of four-layer graphene with Bernal (ABAB),... |  Download Scientific Diagram">
            <a:extLst>
              <a:ext uri="{FF2B5EF4-FFF2-40B4-BE49-F238E27FC236}">
                <a16:creationId xmlns:a16="http://schemas.microsoft.com/office/drawing/2014/main" id="{874CA8A1-5560-C077-46BA-9D17AB315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32" y="2456089"/>
            <a:ext cx="5553107" cy="2711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OPG Highly Ordered Pyrolytic Graphite with atomically flat areas to be  used as specimen substrate or standard for scanning probe microscopy (AFM,  SPM STM) investigations">
            <a:extLst>
              <a:ext uri="{FF2B5EF4-FFF2-40B4-BE49-F238E27FC236}">
                <a16:creationId xmlns:a16="http://schemas.microsoft.com/office/drawing/2014/main" id="{E8FC2918-4C9C-7CC5-238D-FCD2B9ECD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25" y="2362200"/>
            <a:ext cx="4883900" cy="2805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1249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99729-5408-4FDA-EE6B-38B90A062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A6285-0DBA-86C9-DABC-2E009C1A3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err="1"/>
              <a:t>Atomic</a:t>
            </a:r>
            <a:r>
              <a:rPr lang="es-419" dirty="0"/>
              <a:t> </a:t>
            </a:r>
            <a:r>
              <a:rPr lang="es-419" dirty="0" err="1"/>
              <a:t>Steps</a:t>
            </a:r>
            <a:endParaRPr lang="en-US" dirty="0"/>
          </a:p>
        </p:txBody>
      </p:sp>
      <p:pic>
        <p:nvPicPr>
          <p:cNvPr id="4" name="Picture 3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2520BE9A-C64D-CA2D-EDE0-03C2934F1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9418" y="1332325"/>
            <a:ext cx="4186709" cy="4193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7DFDAE-7802-59FE-2CD0-C50F9F3B6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" y="1332325"/>
            <a:ext cx="4166810" cy="4193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C5B968-A340-395B-82AF-CF97DC46F876}"/>
              </a:ext>
            </a:extLst>
          </p:cNvPr>
          <p:cNvSpPr txBox="1"/>
          <p:nvPr/>
        </p:nvSpPr>
        <p:spPr>
          <a:xfrm>
            <a:off x="0" y="5525675"/>
            <a:ext cx="4166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/>
              <a:t>Step </a:t>
            </a:r>
            <a:r>
              <a:rPr lang="es-419" dirty="0" err="1"/>
              <a:t>height</a:t>
            </a:r>
            <a:r>
              <a:rPr lang="es-419" dirty="0"/>
              <a:t> </a:t>
            </a:r>
            <a:r>
              <a:rPr lang="es-419" dirty="0" err="1"/>
              <a:t>of</a:t>
            </a:r>
            <a:r>
              <a:rPr lang="es-419" dirty="0"/>
              <a:t> </a:t>
            </a:r>
            <a:r>
              <a:rPr lang="es-419" dirty="0" err="1"/>
              <a:t>around</a:t>
            </a:r>
            <a:r>
              <a:rPr lang="es-419" dirty="0"/>
              <a:t> 3.3</a:t>
            </a:r>
            <a:r>
              <a:rPr lang="en-US" dirty="0"/>
              <a:t> ± 0.1</a:t>
            </a:r>
            <a:r>
              <a:rPr lang="es-419" dirty="0"/>
              <a:t> A</a:t>
            </a:r>
          </a:p>
          <a:p>
            <a:pPr algn="ctr"/>
            <a:r>
              <a:rPr lang="es-419" dirty="0" err="1"/>
              <a:t>The</a:t>
            </a:r>
            <a:r>
              <a:rPr lang="es-419" dirty="0"/>
              <a:t> </a:t>
            </a:r>
            <a:r>
              <a:rPr lang="es-419" dirty="0" err="1"/>
              <a:t>interlayer</a:t>
            </a:r>
            <a:r>
              <a:rPr lang="es-419" dirty="0"/>
              <a:t> </a:t>
            </a:r>
            <a:r>
              <a:rPr lang="es-419" dirty="0" err="1"/>
              <a:t>spacing</a:t>
            </a:r>
            <a:r>
              <a:rPr lang="es-419" dirty="0"/>
              <a:t> </a:t>
            </a:r>
            <a:r>
              <a:rPr lang="es-419" dirty="0" err="1"/>
              <a:t>for</a:t>
            </a:r>
            <a:r>
              <a:rPr lang="es-419" dirty="0"/>
              <a:t> </a:t>
            </a:r>
            <a:r>
              <a:rPr lang="es-419" dirty="0" err="1"/>
              <a:t>graphite</a:t>
            </a:r>
            <a:r>
              <a:rPr lang="es-419" dirty="0"/>
              <a:t> </a:t>
            </a:r>
            <a:r>
              <a:rPr lang="es-419" dirty="0" err="1"/>
              <a:t>is</a:t>
            </a:r>
            <a:r>
              <a:rPr lang="es-419" dirty="0"/>
              <a:t> </a:t>
            </a:r>
            <a:r>
              <a:rPr lang="es-419" dirty="0" err="1"/>
              <a:t>approximately</a:t>
            </a:r>
            <a:r>
              <a:rPr lang="es-419" dirty="0"/>
              <a:t> 34 A</a:t>
            </a:r>
            <a:endParaRPr lang="en-US" dirty="0"/>
          </a:p>
        </p:txBody>
      </p:sp>
      <p:pic>
        <p:nvPicPr>
          <p:cNvPr id="9" name="Picture 8" descr="A grey and white image of a broken glass&#10;&#10;AI-generated content may be incorrect.">
            <a:extLst>
              <a:ext uri="{FF2B5EF4-FFF2-40B4-BE49-F238E27FC236}">
                <a16:creationId xmlns:a16="http://schemas.microsoft.com/office/drawing/2014/main" id="{B3D4C566-91D7-BF1A-668D-CE0974B559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959" y="1332325"/>
            <a:ext cx="3886459" cy="38698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CFDE70-6D87-5061-EEB6-1BB69992BF73}"/>
              </a:ext>
            </a:extLst>
          </p:cNvPr>
          <p:cNvSpPr txBox="1"/>
          <p:nvPr/>
        </p:nvSpPr>
        <p:spPr>
          <a:xfrm>
            <a:off x="4132959" y="5525675"/>
            <a:ext cx="4166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 of the graphite surface showing terraces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CB90F1-60AE-7E0A-8F22-E366A09DB005}"/>
              </a:ext>
            </a:extLst>
          </p:cNvPr>
          <p:cNvSpPr txBox="1"/>
          <p:nvPr/>
        </p:nvSpPr>
        <p:spPr>
          <a:xfrm>
            <a:off x="8192243" y="5525675"/>
            <a:ext cx="4166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Altitude profiles at several terrace boundaries</a:t>
            </a:r>
          </a:p>
        </p:txBody>
      </p:sp>
    </p:spTree>
    <p:extLst>
      <p:ext uri="{BB962C8B-B14F-4D97-AF65-F5344CB8AC3E}">
        <p14:creationId xmlns:p14="http://schemas.microsoft.com/office/powerpoint/2010/main" val="1202057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9A6E7-A045-5EB9-DBAE-A1D042FDC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err="1"/>
              <a:t>Atomic</a:t>
            </a:r>
            <a:r>
              <a:rPr lang="es-419" dirty="0"/>
              <a:t> </a:t>
            </a:r>
            <a:r>
              <a:rPr lang="es-419" dirty="0" err="1"/>
              <a:t>Resolution</a:t>
            </a:r>
            <a:endParaRPr lang="en-US" dirty="0"/>
          </a:p>
        </p:txBody>
      </p:sp>
      <p:pic>
        <p:nvPicPr>
          <p:cNvPr id="6" name="Picture 5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E85AFC3C-7B0D-F425-1454-6F6CAA8DD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64115"/>
            <a:ext cx="4456518" cy="44815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BFA7EE-37B9-FD83-7DF0-51A3BC7A0F6F}"/>
              </a:ext>
            </a:extLst>
          </p:cNvPr>
          <p:cNvSpPr txBox="1"/>
          <p:nvPr/>
        </p:nvSpPr>
        <p:spPr>
          <a:xfrm>
            <a:off x="5720767" y="1619712"/>
            <a:ext cx="49081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an area with NO atomic terraces</a:t>
            </a:r>
          </a:p>
          <a:p>
            <a:endParaRPr lang="en-US" dirty="0"/>
          </a:p>
          <a:p>
            <a:r>
              <a:rPr lang="en-US" dirty="0"/>
              <a:t>Reduce surface-tip distance</a:t>
            </a:r>
          </a:p>
          <a:p>
            <a:pPr marL="285750" indent="-285750">
              <a:buFontTx/>
              <a:buChar char="-"/>
            </a:pPr>
            <a:r>
              <a:rPr lang="en-US" dirty="0"/>
              <a:t>Increase current set-point</a:t>
            </a:r>
          </a:p>
          <a:p>
            <a:pPr marL="285750" indent="-285750">
              <a:buFontTx/>
              <a:buChar char="-"/>
            </a:pPr>
            <a:r>
              <a:rPr lang="en-US" dirty="0"/>
              <a:t>Decrease bias voltage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Use 2D FFT filtering (noise reduction)</a:t>
            </a:r>
          </a:p>
          <a:p>
            <a:endParaRPr lang="en-US" dirty="0"/>
          </a:p>
          <a:p>
            <a:r>
              <a:rPr lang="en-US" dirty="0"/>
              <a:t>Triangular (not Hexagonal) patter emerges</a:t>
            </a:r>
          </a:p>
          <a:p>
            <a:endParaRPr lang="en-US" dirty="0"/>
          </a:p>
          <a:p>
            <a:r>
              <a:rPr lang="en-US" dirty="0"/>
              <a:t>The periodicity corresponds to the lattice constant.</a:t>
            </a:r>
          </a:p>
          <a:p>
            <a:pPr marL="285750" indent="-285750">
              <a:buFontTx/>
              <a:buChar char="-"/>
            </a:pPr>
            <a:r>
              <a:rPr lang="en-US" dirty="0"/>
              <a:t>Measured value: </a:t>
            </a:r>
            <a:r>
              <a:rPr lang="es-419" dirty="0"/>
              <a:t>2.5</a:t>
            </a:r>
            <a:r>
              <a:rPr lang="en-US" dirty="0"/>
              <a:t> ± 0.1</a:t>
            </a:r>
            <a:r>
              <a:rPr lang="es-419" dirty="0"/>
              <a:t> A</a:t>
            </a:r>
          </a:p>
          <a:p>
            <a:pPr marL="285750" indent="-285750">
              <a:buFontTx/>
              <a:buChar char="-"/>
            </a:pPr>
            <a:r>
              <a:rPr lang="es-419" dirty="0" err="1"/>
              <a:t>Theoretical</a:t>
            </a:r>
            <a:r>
              <a:rPr lang="es-419" dirty="0"/>
              <a:t> </a:t>
            </a:r>
            <a:r>
              <a:rPr lang="es-419" dirty="0" err="1"/>
              <a:t>value</a:t>
            </a:r>
            <a:r>
              <a:rPr lang="es-419" dirty="0"/>
              <a:t>: 2.46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5F0F63-862E-5D8B-0E9A-7DE9D3D0AE11}"/>
              </a:ext>
            </a:extLst>
          </p:cNvPr>
          <p:cNvSpPr txBox="1"/>
          <p:nvPr/>
        </p:nvSpPr>
        <p:spPr>
          <a:xfrm>
            <a:off x="838200" y="5976257"/>
            <a:ext cx="46376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Plot with the peaks corresponding to the positions of the imaged carbon atoms. 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965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AD42E-74F8-F716-A6F4-9005E1521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err="1"/>
              <a:t>Moiré</a:t>
            </a:r>
            <a:r>
              <a:rPr lang="es-419" dirty="0"/>
              <a:t> </a:t>
            </a:r>
            <a:r>
              <a:rPr lang="es-419" dirty="0" err="1"/>
              <a:t>effect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335D91-A1EF-C008-3B3E-8593A2222D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97" y="1986089"/>
            <a:ext cx="6902805" cy="39308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BB34DB-2898-086B-AD6E-C4BED9F23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308" y="1986089"/>
            <a:ext cx="3311492" cy="143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206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ACBE4-8FCA-4CE9-B3AD-8652CA8C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DFDBD-6601-FA8C-247C-F9BAC5115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err="1"/>
              <a:t>Moiré</a:t>
            </a:r>
            <a:r>
              <a:rPr lang="es-419" dirty="0"/>
              <a:t> </a:t>
            </a:r>
            <a:r>
              <a:rPr lang="es-419" dirty="0" err="1"/>
              <a:t>effect</a:t>
            </a:r>
            <a:endParaRPr lang="en-US" dirty="0"/>
          </a:p>
        </p:txBody>
      </p:sp>
      <p:pic>
        <p:nvPicPr>
          <p:cNvPr id="4" name="Picture 3" descr="A screen shot of a graph&#10;&#10;AI-generated content may be incorrect.">
            <a:extLst>
              <a:ext uri="{FF2B5EF4-FFF2-40B4-BE49-F238E27FC236}">
                <a16:creationId xmlns:a16="http://schemas.microsoft.com/office/drawing/2014/main" id="{54F70993-604D-5BBC-BD53-83DC31D2E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52" y="1396024"/>
            <a:ext cx="5638948" cy="52742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DD3720-6594-3056-99FE-F3990E1527F7}"/>
              </a:ext>
            </a:extLst>
          </p:cNvPr>
          <p:cNvSpPr txBox="1"/>
          <p:nvPr/>
        </p:nvSpPr>
        <p:spPr>
          <a:xfrm>
            <a:off x="6477148" y="1502841"/>
            <a:ext cx="50834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two slightly rotated periodic gratings</a:t>
            </a:r>
          </a:p>
          <a:p>
            <a:endParaRPr lang="en-US" dirty="0"/>
          </a:p>
          <a:p>
            <a:r>
              <a:rPr lang="en-US" dirty="0"/>
              <a:t>Measured period of Moiré pattern: </a:t>
            </a:r>
          </a:p>
          <a:p>
            <a:r>
              <a:rPr lang="en-US" dirty="0"/>
              <a:t>D = 128.9 ± 1 A</a:t>
            </a:r>
          </a:p>
          <a:p>
            <a:endParaRPr lang="en-US" dirty="0"/>
          </a:p>
          <a:p>
            <a:r>
              <a:rPr lang="en-US" dirty="0"/>
              <a:t>Twist angle</a:t>
            </a:r>
            <a:r>
              <a:rPr lang="es-419" dirty="0"/>
              <a:t> = 1.09 </a:t>
            </a:r>
            <a:r>
              <a:rPr lang="en-US" dirty="0"/>
              <a:t>± 0.03 °</a:t>
            </a:r>
          </a:p>
        </p:txBody>
      </p:sp>
    </p:spTree>
    <p:extLst>
      <p:ext uri="{BB962C8B-B14F-4D97-AF65-F5344CB8AC3E}">
        <p14:creationId xmlns:p14="http://schemas.microsoft.com/office/powerpoint/2010/main" val="3889292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965E4-2532-1F51-B6DA-968F585D2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35037"/>
          </a:xfrm>
        </p:spPr>
        <p:txBody>
          <a:bodyPr/>
          <a:lstStyle/>
          <a:p>
            <a:r>
              <a:rPr lang="es-419" dirty="0" err="1"/>
              <a:t>Conclusions</a:t>
            </a:r>
            <a:r>
              <a:rPr lang="es-419" dirty="0"/>
              <a:t> and </a:t>
            </a:r>
            <a:r>
              <a:rPr lang="es-419" dirty="0" err="1"/>
              <a:t>Discussion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AAF7F-0C97-0C0F-A4AC-488474271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24843"/>
            <a:ext cx="9144000" cy="2910793"/>
          </a:xfrm>
        </p:spPr>
        <p:txBody>
          <a:bodyPr>
            <a:normAutofit/>
          </a:bodyPr>
          <a:lstStyle/>
          <a:p>
            <a:pPr algn="l"/>
            <a:r>
              <a:rPr lang="es-419" dirty="0"/>
              <a:t>-    </a:t>
            </a:r>
            <a:r>
              <a:rPr lang="es-419" dirty="0" err="1"/>
              <a:t>We</a:t>
            </a:r>
            <a:r>
              <a:rPr lang="es-419" dirty="0"/>
              <a:t> </a:t>
            </a:r>
            <a:r>
              <a:rPr lang="es-419" dirty="0" err="1"/>
              <a:t>measured</a:t>
            </a:r>
            <a:r>
              <a:rPr lang="es-419" dirty="0"/>
              <a:t> </a:t>
            </a:r>
            <a:r>
              <a:rPr lang="es-419" dirty="0" err="1"/>
              <a:t>Atomic</a:t>
            </a:r>
            <a:r>
              <a:rPr lang="es-419" dirty="0"/>
              <a:t> </a:t>
            </a:r>
            <a:r>
              <a:rPr lang="es-419" dirty="0" err="1"/>
              <a:t>Steps</a:t>
            </a:r>
            <a:r>
              <a:rPr lang="es-419" dirty="0"/>
              <a:t> in </a:t>
            </a:r>
            <a:r>
              <a:rPr lang="en-US" dirty="0"/>
              <a:t>Highly Oriented Pyrolytic Graphite</a:t>
            </a:r>
          </a:p>
          <a:p>
            <a:pPr marL="342900" indent="-342900" algn="l">
              <a:buFontTx/>
              <a:buChar char="-"/>
            </a:pPr>
            <a:r>
              <a:rPr lang="en-US" dirty="0"/>
              <a:t>We measured the lattice constant of the sample with atomic resolution</a:t>
            </a:r>
          </a:p>
          <a:p>
            <a:pPr marL="342900" indent="-342900" algn="l">
              <a:buFontTx/>
              <a:buChar char="-"/>
            </a:pPr>
            <a:r>
              <a:rPr lang="en-US" dirty="0"/>
              <a:t>We observed the Moiré pattern, measured its period and the rotation angle</a:t>
            </a:r>
          </a:p>
          <a:p>
            <a:pPr marL="342900" indent="-342900" algn="l">
              <a:buFontTx/>
              <a:buChar char="-"/>
            </a:pPr>
            <a:r>
              <a:rPr lang="en-US" dirty="0"/>
              <a:t>We employed data cleaning and noise reduction techniques to ensure accuracy and precision in our measurements</a:t>
            </a:r>
          </a:p>
        </p:txBody>
      </p:sp>
    </p:spTree>
    <p:extLst>
      <p:ext uri="{BB962C8B-B14F-4D97-AF65-F5344CB8AC3E}">
        <p14:creationId xmlns:p14="http://schemas.microsoft.com/office/powerpoint/2010/main" val="4177711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EE20-82DE-6266-1465-5EDAE67D2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8382"/>
            <a:ext cx="10515600" cy="1213076"/>
          </a:xfrm>
        </p:spPr>
        <p:txBody>
          <a:bodyPr/>
          <a:lstStyle/>
          <a:p>
            <a:pPr algn="ctr"/>
            <a:r>
              <a:rPr lang="es-419" dirty="0" err="1"/>
              <a:t>Thank</a:t>
            </a:r>
            <a:r>
              <a:rPr lang="es-419" dirty="0"/>
              <a:t> </a:t>
            </a:r>
            <a:r>
              <a:rPr lang="es-419" dirty="0" err="1"/>
              <a:t>you</a:t>
            </a:r>
            <a:r>
              <a:rPr lang="es-419" dirty="0"/>
              <a:t> </a:t>
            </a:r>
            <a:r>
              <a:rPr lang="es-419" dirty="0" err="1"/>
              <a:t>for</a:t>
            </a:r>
            <a:r>
              <a:rPr lang="es-419" dirty="0"/>
              <a:t> </a:t>
            </a:r>
            <a:r>
              <a:rPr lang="es-419" dirty="0" err="1"/>
              <a:t>the</a:t>
            </a:r>
            <a:r>
              <a:rPr lang="es-419" dirty="0"/>
              <a:t> </a:t>
            </a:r>
            <a:r>
              <a:rPr lang="es-419" dirty="0" err="1"/>
              <a:t>attention</a:t>
            </a:r>
            <a:r>
              <a:rPr lang="es-419" dirty="0"/>
              <a:t>!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1A621C7-36EF-A9EF-6B93-3898F53ACB94}"/>
              </a:ext>
            </a:extLst>
          </p:cNvPr>
          <p:cNvSpPr txBox="1">
            <a:spLocks/>
          </p:cNvSpPr>
          <p:nvPr/>
        </p:nvSpPr>
        <p:spPr>
          <a:xfrm>
            <a:off x="838200" y="2645910"/>
            <a:ext cx="10515600" cy="12130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419" sz="2800" dirty="0" err="1"/>
              <a:t>Please</a:t>
            </a:r>
            <a:r>
              <a:rPr lang="es-419" sz="2800" dirty="0"/>
              <a:t> </a:t>
            </a:r>
            <a:r>
              <a:rPr lang="es-419" sz="2800" dirty="0" err="1"/>
              <a:t>ask</a:t>
            </a:r>
            <a:r>
              <a:rPr lang="es-419" sz="2800" dirty="0"/>
              <a:t> </a:t>
            </a:r>
            <a:r>
              <a:rPr lang="es-419" sz="2800" dirty="0" err="1"/>
              <a:t>any</a:t>
            </a:r>
            <a:r>
              <a:rPr lang="es-419" sz="2800" dirty="0"/>
              <a:t> </a:t>
            </a:r>
            <a:r>
              <a:rPr lang="es-419" sz="2800" dirty="0" err="1"/>
              <a:t>questions</a:t>
            </a:r>
            <a:r>
              <a:rPr lang="es-419" sz="2800" dirty="0"/>
              <a:t> </a:t>
            </a:r>
            <a:r>
              <a:rPr lang="es-419" sz="2800" dirty="0" err="1"/>
              <a:t>you</a:t>
            </a:r>
            <a:r>
              <a:rPr lang="es-419" sz="2800" dirty="0"/>
              <a:t> </a:t>
            </a:r>
            <a:r>
              <a:rPr lang="es-419" sz="2800" dirty="0" err="1"/>
              <a:t>had</a:t>
            </a:r>
            <a:r>
              <a:rPr lang="es-419" sz="2800" dirty="0"/>
              <a:t> </a:t>
            </a:r>
            <a:r>
              <a:rPr lang="es-419" sz="2800" dirty="0" err="1"/>
              <a:t>during</a:t>
            </a:r>
            <a:r>
              <a:rPr lang="es-419" sz="2800" dirty="0"/>
              <a:t> </a:t>
            </a:r>
            <a:r>
              <a:rPr lang="es-419" sz="2800" dirty="0" err="1"/>
              <a:t>the</a:t>
            </a:r>
            <a:r>
              <a:rPr lang="es-419" sz="2800" dirty="0"/>
              <a:t> </a:t>
            </a:r>
            <a:r>
              <a:rPr lang="es-419" sz="2800" dirty="0" err="1"/>
              <a:t>presentation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84629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EE069-4A00-B80C-05A6-779B419F4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5256212" cy="783771"/>
          </a:xfrm>
        </p:spPr>
        <p:txBody>
          <a:bodyPr/>
          <a:lstStyle/>
          <a:p>
            <a:r>
              <a:rPr lang="es-419" dirty="0"/>
              <a:t>STM </a:t>
            </a:r>
            <a:r>
              <a:rPr lang="es-419" dirty="0" err="1"/>
              <a:t>measurement</a:t>
            </a:r>
            <a:r>
              <a:rPr lang="es-419" dirty="0"/>
              <a:t> </a:t>
            </a:r>
            <a:r>
              <a:rPr lang="es-419" dirty="0" err="1"/>
              <a:t>device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008327-05DC-E6EB-9ADC-8926246C3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773" y="1527175"/>
            <a:ext cx="7014378" cy="48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737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</TotalTime>
  <Words>372</Words>
  <Application>Microsoft Office PowerPoint</Application>
  <PresentationFormat>Widescreen</PresentationFormat>
  <Paragraphs>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Scanning Tunneling Microscopy</vt:lpstr>
      <vt:lpstr>PowerPoint Presentation</vt:lpstr>
      <vt:lpstr>Table of Contents</vt:lpstr>
      <vt:lpstr>STM imaging</vt:lpstr>
      <vt:lpstr>Tunneling</vt:lpstr>
      <vt:lpstr>PowerPoint Presentation</vt:lpstr>
      <vt:lpstr>Study of Highly Oriented Pyrolytic Graphite (HOPG)</vt:lpstr>
      <vt:lpstr>Atomic Steps</vt:lpstr>
      <vt:lpstr>Atomic Resolution</vt:lpstr>
      <vt:lpstr>Moiré effect</vt:lpstr>
      <vt:lpstr>Moiré effect</vt:lpstr>
      <vt:lpstr>Conclusions and Discussion</vt:lpstr>
      <vt:lpstr>Thank you for the attention!</vt:lpstr>
      <vt:lpstr>STM measurement device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Jaca Gregorio</dc:creator>
  <cp:lastModifiedBy>Jaca Gregorio</cp:lastModifiedBy>
  <cp:revision>3</cp:revision>
  <dcterms:created xsi:type="dcterms:W3CDTF">2025-12-10T19:22:16Z</dcterms:created>
  <dcterms:modified xsi:type="dcterms:W3CDTF">2025-12-11T14:12:54Z</dcterms:modified>
</cp:coreProperties>
</file>